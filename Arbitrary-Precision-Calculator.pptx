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Montserrat"/>
      <p:regular r:id="rId17"/>
    </p:embeddedFont>
    <p:embeddedFont>
      <p:font typeface="Montserrat"/>
      <p:regular r:id="rId18"/>
    </p:embeddedFont>
    <p:embeddedFont>
      <p:font typeface="Montserrat"/>
      <p:regular r:id="rId19"/>
    </p:embeddedFont>
    <p:embeddedFont>
      <p:font typeface="Montserrat"/>
      <p:regular r:id="rId20"/>
    </p:embeddedFont>
    <p:embeddedFont>
      <p:font typeface="Source Sans 3"/>
      <p:regular r:id="rId21"/>
    </p:embeddedFont>
    <p:embeddedFont>
      <p:font typeface="Source Sans 3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7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845356"/>
            <a:ext cx="8639056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Arbitrary Precision Calculator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3645337"/>
            <a:ext cx="4297085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Using Doubly Linked List in 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3798" y="4366141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George T Poul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3798" y="5013960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 in Electronics and Telecommunication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258020"/>
            <a:ext cx="5768340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Problem Statement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63798" y="3452932"/>
            <a:ext cx="4136350" cy="2518648"/>
          </a:xfrm>
          <a:prstGeom prst="roundRect">
            <a:avLst>
              <a:gd name="adj" fmla="val 1470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1110615" y="3699748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Size Limitations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10615" y="4198382"/>
            <a:ext cx="3642717" cy="1526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Standard data types like 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have fixed size limitations in C, restricting the range of values they can store.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246965" y="3452932"/>
            <a:ext cx="4136350" cy="2518648"/>
          </a:xfrm>
          <a:prstGeom prst="roundRect">
            <a:avLst>
              <a:gd name="adj" fmla="val 1470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5493782" y="3699748"/>
            <a:ext cx="3546753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Large Number Handling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93782" y="4198382"/>
            <a:ext cx="3642717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Cannot handle very large numbers that exceed the maximum limits of standard data types, such as 2^64 or higher.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630132" y="3452932"/>
            <a:ext cx="4136350" cy="2518648"/>
          </a:xfrm>
          <a:prstGeom prst="roundRect">
            <a:avLst>
              <a:gd name="adj" fmla="val 1470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9876949" y="3699748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Need for Flexibility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6949" y="4198382"/>
            <a:ext cx="3642717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Requires a system to perform arithmetic operations on unlimited size integers with dynamic memory allocation.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257776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Project Objective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2452688"/>
            <a:ext cx="129028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Design and implement a calculator capable of performing arithmetic operations on arbitrarily large integers using dynamic data structures.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3798" y="3470672"/>
            <a:ext cx="493633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63798" y="3859649"/>
            <a:ext cx="6327934" cy="3048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6" name="Text 4"/>
          <p:cNvSpPr/>
          <p:nvPr/>
        </p:nvSpPr>
        <p:spPr>
          <a:xfrm>
            <a:off x="863798" y="4043958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Addition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3798" y="4542592"/>
            <a:ext cx="6327934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 addition with carry propagation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438549" y="3470672"/>
            <a:ext cx="493633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438549" y="3859649"/>
            <a:ext cx="6328053" cy="3048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0" name="Text 8"/>
          <p:cNvSpPr/>
          <p:nvPr/>
        </p:nvSpPr>
        <p:spPr>
          <a:xfrm>
            <a:off x="7438549" y="4043958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Subtraction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38549" y="4542592"/>
            <a:ext cx="632805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Handle borrowing and negative results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63798" y="5344597"/>
            <a:ext cx="493633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63798" y="5733574"/>
            <a:ext cx="6327934" cy="3048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4" name="Text 12"/>
          <p:cNvSpPr/>
          <p:nvPr/>
        </p:nvSpPr>
        <p:spPr>
          <a:xfrm>
            <a:off x="863798" y="5917883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Multiplication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63798" y="6416516"/>
            <a:ext cx="6327934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Digit-by-digit multiplication with shifting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438549" y="5344597"/>
            <a:ext cx="493633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438549" y="5733574"/>
            <a:ext cx="6328053" cy="3048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8" name="Text 16"/>
          <p:cNvSpPr/>
          <p:nvPr/>
        </p:nvSpPr>
        <p:spPr>
          <a:xfrm>
            <a:off x="7438549" y="5917883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Division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38549" y="6416516"/>
            <a:ext cx="632805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Repeated subtraction with quotient calculation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809387"/>
            <a:ext cx="10104715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Structure: Doubly Linked List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2127647"/>
            <a:ext cx="2862620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Structure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3798" y="2725102"/>
            <a:ext cx="6150293" cy="1762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node stores a single digit (0-9)</a:t>
            </a:r>
            <a:endParaRPr lang="en-US" sz="1900" dirty="0"/>
          </a:p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Two pointers: 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prev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(left) and 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(right)</a:t>
            </a:r>
            <a:endParaRPr lang="en-US" sz="1900" dirty="0"/>
          </a:p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Supports bidirectional traversal</a:t>
            </a:r>
            <a:endParaRPr lang="en-US" sz="1900" dirty="0"/>
          </a:p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Dynamic memory allocation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623929" y="2127647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Node Structure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623929" y="2755940"/>
            <a:ext cx="6150293" cy="2714625"/>
          </a:xfrm>
          <a:prstGeom prst="roundRect">
            <a:avLst>
              <a:gd name="adj" fmla="val 1364"/>
            </a:avLst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7611666" y="2755940"/>
            <a:ext cx="6174819" cy="2714625"/>
          </a:xfrm>
          <a:prstGeom prst="roundRect">
            <a:avLst>
              <a:gd name="adj" fmla="val 1364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7920157" y="3002756"/>
            <a:ext cx="5557838" cy="2220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struct Node {
    int data;
    struct Node* prev;
    struct Node* next;
};
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63798" y="6025872"/>
            <a:ext cx="12902803" cy="1394222"/>
          </a:xfrm>
          <a:prstGeom prst="roundRect">
            <a:avLst>
              <a:gd name="adj" fmla="val 2656"/>
            </a:avLst>
          </a:prstGeom>
          <a:solidFill>
            <a:srgbClr val="B6D6F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615" y="6377464"/>
            <a:ext cx="308491" cy="24681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65923" y="6334363"/>
            <a:ext cx="1185386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Advantage: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Enables arithmetic operations starting from the least significant digit (tail) while maintaining the ability to traverse backward when needed for carry or borrow operations.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680442"/>
            <a:ext cx="8101965" cy="59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Number Storage Representation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863798" y="1633061"/>
            <a:ext cx="12902803" cy="290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Example: Representing the number 1234 using the doubly linked list structure</a:t>
            </a:r>
            <a:endParaRPr lang="en-US" sz="1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798" y="2124670"/>
            <a:ext cx="6451402" cy="83915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3587" y="3142059"/>
            <a:ext cx="2384108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Node 1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073587" y="3546872"/>
            <a:ext cx="6031825" cy="290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Most Significant Digit (MSD)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073587" y="3944779"/>
            <a:ext cx="6031825" cy="290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Head pointer</a:t>
            </a:r>
            <a:endParaRPr lang="en-US" sz="16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124670"/>
            <a:ext cx="6451402" cy="83915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24988" y="3142059"/>
            <a:ext cx="2384108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Node 2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7524988" y="3546872"/>
            <a:ext cx="6031825" cy="290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Digit storage</a:t>
            </a:r>
            <a:endParaRPr lang="en-US" sz="16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98" y="4445556"/>
            <a:ext cx="6451402" cy="83915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73587" y="5462945"/>
            <a:ext cx="2384108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Node 3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1073587" y="5867757"/>
            <a:ext cx="6031825" cy="290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Digit storage</a:t>
            </a:r>
            <a:endParaRPr lang="en-US" sz="16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445556"/>
            <a:ext cx="6451402" cy="83915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524988" y="5462945"/>
            <a:ext cx="2384108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Node 4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7524988" y="5867757"/>
            <a:ext cx="6031825" cy="290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Least Significant Digit (LSD)</a:t>
            </a:r>
            <a:endParaRPr lang="en-US" sz="1650" dirty="0"/>
          </a:p>
        </p:txBody>
      </p:sp>
      <p:sp>
        <p:nvSpPr>
          <p:cNvPr id="17" name="Text 11"/>
          <p:cNvSpPr/>
          <p:nvPr/>
        </p:nvSpPr>
        <p:spPr>
          <a:xfrm>
            <a:off x="7524988" y="6265664"/>
            <a:ext cx="6031825" cy="290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Tail pointer</a:t>
            </a:r>
            <a:endParaRPr lang="en-US" sz="1650" dirty="0"/>
          </a:p>
        </p:txBody>
      </p:sp>
      <p:sp>
        <p:nvSpPr>
          <p:cNvPr id="18" name="Text 12"/>
          <p:cNvSpPr/>
          <p:nvPr/>
        </p:nvSpPr>
        <p:spPr>
          <a:xfrm>
            <a:off x="863798" y="6967061"/>
            <a:ext cx="12902803" cy="581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linked list maintains the number in normal reading order, with the head pointing to the most significant digit and tail pointing to the least significant digit for arithmetic operations.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822008"/>
            <a:ext cx="5363766" cy="666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Addition Operation</a:t>
            </a:r>
            <a:endParaRPr lang="en-US" sz="4150" dirty="0"/>
          </a:p>
        </p:txBody>
      </p:sp>
      <p:sp>
        <p:nvSpPr>
          <p:cNvPr id="3" name="Shape 1"/>
          <p:cNvSpPr/>
          <p:nvPr/>
        </p:nvSpPr>
        <p:spPr>
          <a:xfrm>
            <a:off x="1215509" y="2871430"/>
            <a:ext cx="3800594" cy="234434"/>
          </a:xfrm>
          <a:prstGeom prst="roundRect">
            <a:avLst>
              <a:gd name="adj" fmla="val 15004"/>
            </a:avLst>
          </a:prstGeom>
          <a:solidFill>
            <a:srgbClr val="F2EEEE"/>
          </a:solidFill>
          <a:ln/>
        </p:spPr>
      </p:sp>
      <p:sp>
        <p:nvSpPr>
          <p:cNvPr id="4" name="Shape 2"/>
          <p:cNvSpPr/>
          <p:nvPr/>
        </p:nvSpPr>
        <p:spPr>
          <a:xfrm>
            <a:off x="863798" y="2636996"/>
            <a:ext cx="703421" cy="703421"/>
          </a:xfrm>
          <a:prstGeom prst="roundRect">
            <a:avLst>
              <a:gd name="adj" fmla="val 64997"/>
            </a:avLst>
          </a:prstGeom>
          <a:solidFill>
            <a:srgbClr val="F2EEE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9654" y="2812852"/>
            <a:ext cx="351711" cy="3517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8233" y="3563064"/>
            <a:ext cx="2664619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Traverse from Tail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1098233" y="4029670"/>
            <a:ext cx="3683556" cy="685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Start from rightmost digit (least significant)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590580" y="2519720"/>
            <a:ext cx="3800713" cy="234434"/>
          </a:xfrm>
          <a:prstGeom prst="roundRect">
            <a:avLst>
              <a:gd name="adj" fmla="val 15004"/>
            </a:avLst>
          </a:prstGeom>
          <a:solidFill>
            <a:srgbClr val="F2EEEE"/>
          </a:solidFill>
          <a:ln/>
        </p:spPr>
      </p:sp>
      <p:sp>
        <p:nvSpPr>
          <p:cNvPr id="9" name="Shape 6"/>
          <p:cNvSpPr/>
          <p:nvPr/>
        </p:nvSpPr>
        <p:spPr>
          <a:xfrm>
            <a:off x="5238869" y="2285286"/>
            <a:ext cx="703421" cy="703421"/>
          </a:xfrm>
          <a:prstGeom prst="roundRect">
            <a:avLst>
              <a:gd name="adj" fmla="val 64997"/>
            </a:avLst>
          </a:prstGeom>
          <a:solidFill>
            <a:srgbClr val="F2EEE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4724" y="2461141"/>
            <a:ext cx="351711" cy="35171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73303" y="3211354"/>
            <a:ext cx="2664619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Add Digits + Carry</a:t>
            </a:r>
            <a:endParaRPr lang="en-US" sz="2050" dirty="0"/>
          </a:p>
        </p:txBody>
      </p:sp>
      <p:sp>
        <p:nvSpPr>
          <p:cNvPr id="12" name="Text 8"/>
          <p:cNvSpPr/>
          <p:nvPr/>
        </p:nvSpPr>
        <p:spPr>
          <a:xfrm>
            <a:off x="5473303" y="3677960"/>
            <a:ext cx="3683675" cy="685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Sum corresponding digits along with carry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9965769" y="2168009"/>
            <a:ext cx="3800594" cy="234434"/>
          </a:xfrm>
          <a:prstGeom prst="roundRect">
            <a:avLst>
              <a:gd name="adj" fmla="val 15004"/>
            </a:avLst>
          </a:prstGeom>
          <a:solidFill>
            <a:srgbClr val="F2EEEE"/>
          </a:solidFill>
          <a:ln/>
        </p:spPr>
      </p:sp>
      <p:sp>
        <p:nvSpPr>
          <p:cNvPr id="14" name="Shape 10"/>
          <p:cNvSpPr/>
          <p:nvPr/>
        </p:nvSpPr>
        <p:spPr>
          <a:xfrm>
            <a:off x="9614059" y="1933575"/>
            <a:ext cx="703421" cy="703421"/>
          </a:xfrm>
          <a:prstGeom prst="roundRect">
            <a:avLst>
              <a:gd name="adj" fmla="val 64997"/>
            </a:avLst>
          </a:prstGeom>
          <a:solidFill>
            <a:srgbClr val="F2EEE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89914" y="2109430"/>
            <a:ext cx="351711" cy="35171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48493" y="2859643"/>
            <a:ext cx="2664619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Insert Result</a:t>
            </a:r>
            <a:endParaRPr lang="en-US" sz="2050" dirty="0"/>
          </a:p>
        </p:txBody>
      </p:sp>
      <p:sp>
        <p:nvSpPr>
          <p:cNvPr id="17" name="Text 12"/>
          <p:cNvSpPr/>
          <p:nvPr/>
        </p:nvSpPr>
        <p:spPr>
          <a:xfrm>
            <a:off x="9848493" y="3326249"/>
            <a:ext cx="3683556" cy="35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Store result using </a:t>
            </a:r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insert_at_first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63798" y="5422821"/>
            <a:ext cx="2664619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Example</a:t>
            </a:r>
            <a:endParaRPr lang="en-US" sz="2050" dirty="0"/>
          </a:p>
        </p:txBody>
      </p:sp>
      <p:sp>
        <p:nvSpPr>
          <p:cNvPr id="19" name="Text 14"/>
          <p:cNvSpPr/>
          <p:nvPr/>
        </p:nvSpPr>
        <p:spPr>
          <a:xfrm>
            <a:off x="863798" y="5978485"/>
            <a:ext cx="6165413" cy="342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123 + 456 = 579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63798" y="6521648"/>
            <a:ext cx="6165413" cy="685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digit is processed from right to left with carry propagation.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7608808" y="5422821"/>
            <a:ext cx="2664619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Implementation</a:t>
            </a:r>
            <a:endParaRPr lang="en-US" sz="2050" dirty="0"/>
          </a:p>
        </p:txBody>
      </p:sp>
      <p:sp>
        <p:nvSpPr>
          <p:cNvPr id="22" name="Text 17"/>
          <p:cNvSpPr/>
          <p:nvPr/>
        </p:nvSpPr>
        <p:spPr>
          <a:xfrm>
            <a:off x="7608808" y="5978485"/>
            <a:ext cx="6165413" cy="1184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Handle different number lengths</a:t>
            </a:r>
            <a:endParaRPr lang="en-US" sz="18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Manage carry overflow</a:t>
            </a:r>
            <a:endParaRPr lang="en-US" sz="18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Return new list with result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358622"/>
            <a:ext cx="6553081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Subtraction Operation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2676882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Algorithm Steps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3798" y="3274338"/>
            <a:ext cx="6150293" cy="173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Traverse from tail (rightmost digit)</a:t>
            </a:r>
            <a:endParaRPr lang="en-US" sz="1900" dirty="0"/>
          </a:p>
          <a:p>
            <a:pPr algn="l" marL="342900" indent="-342900">
              <a:lnSpc>
                <a:spcPts val="2900"/>
              </a:lnSpc>
              <a:buSzPct val="100000"/>
              <a:buFont typeface="+mj-lt"/>
              <a:buAutoNum type="arabicPeriod" startAt="2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Subtract digits with borrow handling</a:t>
            </a:r>
            <a:endParaRPr lang="en-US" sz="1900" dirty="0"/>
          </a:p>
          <a:p>
            <a:pPr algn="l" marL="342900" indent="-342900">
              <a:lnSpc>
                <a:spcPts val="2900"/>
              </a:lnSpc>
              <a:buSzPct val="100000"/>
              <a:buFont typeface="+mj-lt"/>
              <a:buAutoNum type="arabicPeriod" startAt="3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Remove leading zeros from result</a:t>
            </a:r>
            <a:endParaRPr lang="en-US" sz="1900" dirty="0"/>
          </a:p>
          <a:p>
            <a:pPr algn="l" marL="342900" indent="-342900">
              <a:lnSpc>
                <a:spcPts val="2900"/>
              </a:lnSpc>
              <a:buSzPct val="100000"/>
              <a:buFont typeface="+mj-lt"/>
              <a:buAutoNum type="arabicPeriod" startAt="4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Handle negative results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623929" y="2676882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Example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23929" y="3274338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500 - 123 = 377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623929" y="3866555"/>
            <a:ext cx="6150293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algorithm processes each digit position, borrowing from the next higher digit when necessary to ensure correct subtraction.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63798" y="5476756"/>
            <a:ext cx="12902803" cy="1394222"/>
          </a:xfrm>
          <a:prstGeom prst="roundRect">
            <a:avLst>
              <a:gd name="adj" fmla="val 2656"/>
            </a:avLst>
          </a:prstGeom>
          <a:solidFill>
            <a:srgbClr val="FCF2B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615" y="5828348"/>
            <a:ext cx="308491" cy="24681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65923" y="5785247"/>
            <a:ext cx="1185386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Borrow Handling: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When a digit in the minuend is smaller than the corresponding digit in the subtrahend, borrow 10 from the next higher digit and adjust the current digit accordingly.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743307"/>
            <a:ext cx="7179588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Multiplication Operation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63798" y="1938218"/>
            <a:ext cx="6327934" cy="1793558"/>
          </a:xfrm>
          <a:prstGeom prst="roundRect">
            <a:avLst>
              <a:gd name="adj" fmla="val 815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3318" y="1938218"/>
            <a:ext cx="121920" cy="1793558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</p:sp>
      <p:sp>
        <p:nvSpPr>
          <p:cNvPr id="5" name="Text 3"/>
          <p:cNvSpPr/>
          <p:nvPr/>
        </p:nvSpPr>
        <p:spPr>
          <a:xfrm>
            <a:off x="1232535" y="2215515"/>
            <a:ext cx="4118729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Digit-by-Digit Multiplication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2535" y="2714149"/>
            <a:ext cx="5681901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Multiply each digit of the first number with each digit of the second number, tracking positions.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438549" y="1938218"/>
            <a:ext cx="6328053" cy="1793558"/>
          </a:xfrm>
          <a:prstGeom prst="roundRect">
            <a:avLst>
              <a:gd name="adj" fmla="val 815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8069" y="1938218"/>
            <a:ext cx="121920" cy="1793558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</p:sp>
      <p:sp>
        <p:nvSpPr>
          <p:cNvPr id="9" name="Text 7"/>
          <p:cNvSpPr/>
          <p:nvPr/>
        </p:nvSpPr>
        <p:spPr>
          <a:xfrm>
            <a:off x="7807285" y="2215515"/>
            <a:ext cx="3338393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Partial Results Storage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807285" y="2714149"/>
            <a:ext cx="568202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Store intermediate multiplication results in temporary linked lists for each digit multiplication.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63798" y="3978593"/>
            <a:ext cx="6327934" cy="1793558"/>
          </a:xfrm>
          <a:prstGeom prst="roundRect">
            <a:avLst>
              <a:gd name="adj" fmla="val 815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3318" y="3978593"/>
            <a:ext cx="121920" cy="1793558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</p:sp>
      <p:sp>
        <p:nvSpPr>
          <p:cNvPr id="13" name="Text 11"/>
          <p:cNvSpPr/>
          <p:nvPr/>
        </p:nvSpPr>
        <p:spPr>
          <a:xfrm>
            <a:off x="1232535" y="4255889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Zero Shifting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32535" y="4754523"/>
            <a:ext cx="5681901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 appropriate number of zeros to partial results based on digit positions (place value).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438549" y="3978593"/>
            <a:ext cx="6328053" cy="1793558"/>
          </a:xfrm>
          <a:prstGeom prst="roundRect">
            <a:avLst>
              <a:gd name="adj" fmla="val 815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8069" y="3978593"/>
            <a:ext cx="121920" cy="1793558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</p:sp>
      <p:sp>
        <p:nvSpPr>
          <p:cNvPr id="17" name="Text 15"/>
          <p:cNvSpPr/>
          <p:nvPr/>
        </p:nvSpPr>
        <p:spPr>
          <a:xfrm>
            <a:off x="7807285" y="4255889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Combine Results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807285" y="4754523"/>
            <a:ext cx="568202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 addition operation to sum all partial results and obtain final product.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63798" y="6296620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Example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63798" y="6894076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123 × 45 = 5535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623929" y="6296620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Complexity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623929" y="6894076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O(n×m) where n and m are the number of digits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258014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Division Operation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63798" y="2452926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973217" y="2520255"/>
            <a:ext cx="336471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665923" y="2537698"/>
            <a:ext cx="321254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Repeated Subtraction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65923" y="3036332"/>
            <a:ext cx="3293150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Continuously subtract the divisor from the dividend until the dividend becomes smaller than the divisor.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267563" y="2452926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5376982" y="2520255"/>
            <a:ext cx="336471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6069687" y="2537698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Count Iterations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069687" y="3036332"/>
            <a:ext cx="3293150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Track the number of successful subtractions, which gives the quotient value.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671328" y="2452926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9780746" y="2520255"/>
            <a:ext cx="336471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10473452" y="2537698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Return Remainder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473452" y="3036332"/>
            <a:ext cx="3293150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remaining value after subtraction becomes the remainder of the division operation.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63798" y="5041463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Example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63798" y="5638919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 ÷ 2 = 5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63798" y="6231136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divisor 2 is subtracted 5 times from 10.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623929" y="5041463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Optimization Note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623929" y="5638919"/>
            <a:ext cx="6150293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 better performance, consider implementing long division algorithm instead of repeated subtraction for large numbers.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278255"/>
            <a:ext cx="8138755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Conclusion &amp; Key Learnings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63798" y="2473166"/>
            <a:ext cx="4136350" cy="3460194"/>
          </a:xfrm>
          <a:prstGeom prst="roundRect">
            <a:avLst>
              <a:gd name="adj" fmla="val 1070"/>
            </a:avLst>
          </a:prstGeom>
          <a:solidFill>
            <a:srgbClr val="F2EEEE"/>
          </a:solidFill>
          <a:ln/>
        </p:spPr>
      </p:sp>
      <p:sp>
        <p:nvSpPr>
          <p:cNvPr id="4" name="Shape 2"/>
          <p:cNvSpPr/>
          <p:nvPr/>
        </p:nvSpPr>
        <p:spPr>
          <a:xfrm>
            <a:off x="1110615" y="2719983"/>
            <a:ext cx="740450" cy="740450"/>
          </a:xfrm>
          <a:prstGeom prst="roundRect">
            <a:avLst>
              <a:gd name="adj" fmla="val 12348012"/>
            </a:avLst>
          </a:prstGeom>
          <a:solidFill>
            <a:srgbClr val="2D2E3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14212" y="2923580"/>
            <a:ext cx="333137" cy="3331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0615" y="3707249"/>
            <a:ext cx="2851309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Linked List Mastery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10615" y="4205883"/>
            <a:ext cx="3642717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Deep understanding of doubly linked list implementation, memory management, and pointer manipulation in C.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246965" y="2473166"/>
            <a:ext cx="4136350" cy="3460194"/>
          </a:xfrm>
          <a:prstGeom prst="roundRect">
            <a:avLst>
              <a:gd name="adj" fmla="val 1070"/>
            </a:avLst>
          </a:prstGeom>
          <a:solidFill>
            <a:srgbClr val="F2EEEE"/>
          </a:solidFill>
          <a:ln/>
        </p:spPr>
      </p:sp>
      <p:sp>
        <p:nvSpPr>
          <p:cNvPr id="9" name="Shape 6"/>
          <p:cNvSpPr/>
          <p:nvPr/>
        </p:nvSpPr>
        <p:spPr>
          <a:xfrm>
            <a:off x="5493782" y="2719983"/>
            <a:ext cx="740450" cy="740450"/>
          </a:xfrm>
          <a:prstGeom prst="roundRect">
            <a:avLst>
              <a:gd name="adj" fmla="val 12348012"/>
            </a:avLst>
          </a:prstGeom>
          <a:solidFill>
            <a:srgbClr val="2D2E3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97379" y="2923580"/>
            <a:ext cx="333137" cy="33313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93782" y="3707249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Pointer Expertise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93782" y="4205883"/>
            <a:ext cx="3642717" cy="1133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Strong grasp of pointer arithmetic, dynamic memory allocation using 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malloc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free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9630132" y="2473166"/>
            <a:ext cx="4136350" cy="3460194"/>
          </a:xfrm>
          <a:prstGeom prst="roundRect">
            <a:avLst>
              <a:gd name="adj" fmla="val 1070"/>
            </a:avLst>
          </a:prstGeom>
          <a:solidFill>
            <a:srgbClr val="F2EEEE"/>
          </a:solidFill>
          <a:ln/>
        </p:spPr>
      </p:sp>
      <p:sp>
        <p:nvSpPr>
          <p:cNvPr id="14" name="Shape 10"/>
          <p:cNvSpPr/>
          <p:nvPr/>
        </p:nvSpPr>
        <p:spPr>
          <a:xfrm>
            <a:off x="9876949" y="2719983"/>
            <a:ext cx="740450" cy="740450"/>
          </a:xfrm>
          <a:prstGeom prst="roundRect">
            <a:avLst>
              <a:gd name="adj" fmla="val 12348012"/>
            </a:avLst>
          </a:prstGeom>
          <a:solidFill>
            <a:srgbClr val="2D2E3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80546" y="2923580"/>
            <a:ext cx="333137" cy="33313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6949" y="3707249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Arithmetic Logic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6949" y="4205883"/>
            <a:ext cx="3642717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Comprehensive understanding of implementing basic arithmetic operations on large numbers from scratch.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63798" y="6211014"/>
            <a:ext cx="129028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project demonstrates the ability to handle arbitrarily large numbers efficiently using dynamic data structures, overcoming the limitations of standard data types in C programming.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2026-04-16T10:02:19Z</dcterms:created>
  <dcterms:modified xsi:type="dcterms:W3CDTF">2026-04-16T10:02:19Z</dcterms:modified>
</cp:coreProperties>
</file>